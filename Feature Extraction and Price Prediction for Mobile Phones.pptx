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" charset="1" panose="020B0502030000000004"/>
      <p:regular r:id="rId17"/>
    </p:embeddedFont>
    <p:embeddedFont>
      <p:font typeface="Inter Italics" charset="1" panose="020B05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8670" y="1011872"/>
            <a:ext cx="12673048" cy="344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2"/>
              </a:lnSpc>
            </a:pPr>
            <a:r>
              <a:rPr lang="en-US" sz="9083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Feature Extraction and Price Prediction for Mobile Phones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76597" y="4850173"/>
            <a:ext cx="4482703" cy="64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sz="4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Ankit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51774" y="7502992"/>
            <a:ext cx="6507526" cy="226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74"/>
              </a:lnSpc>
            </a:pPr>
            <a:r>
              <a:rPr lang="en-US" sz="5240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Data Analysis and Machine Learning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76597" y="5884502"/>
            <a:ext cx="4482703" cy="1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sz="4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Next Hikes Pvt ltd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4682" y="2417861"/>
            <a:ext cx="13998637" cy="24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37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The objective of this project is to analyze the key features that influence smartphone prices and build a predictive machine learning model to estimate mobile phone prices based on these features.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44682" y="5667640"/>
            <a:ext cx="13998637" cy="40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6"/>
              </a:lnSpc>
            </a:pPr>
            <a:r>
              <a:rPr lang="en-US" sz="405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Goals:</a:t>
            </a:r>
          </a:p>
          <a:p>
            <a:pPr algn="l" marL="876248" indent="-438124" lvl="1">
              <a:lnSpc>
                <a:spcPts val="4626"/>
              </a:lnSpc>
              <a:buFont typeface="Arial"/>
              <a:buChar char="•"/>
            </a:pPr>
            <a:r>
              <a:rPr lang="en-US" sz="405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Understand the dataset</a:t>
            </a:r>
            <a:r>
              <a:rPr lang="en-US" sz="405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 through Exploratory Data Analysis (EDA)</a:t>
            </a:r>
          </a:p>
          <a:p>
            <a:pPr algn="l" marL="876248" indent="-438124" lvl="1">
              <a:lnSpc>
                <a:spcPts val="4626"/>
              </a:lnSpc>
              <a:buFont typeface="Arial"/>
              <a:buChar char="•"/>
            </a:pPr>
            <a:r>
              <a:rPr lang="en-US" sz="405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Identify important features affecting mobile prices</a:t>
            </a:r>
          </a:p>
          <a:p>
            <a:pPr algn="l" marL="876248" indent="-438124" lvl="1">
              <a:lnSpc>
                <a:spcPts val="4626"/>
              </a:lnSpc>
              <a:buFont typeface="Arial"/>
              <a:buChar char="•"/>
            </a:pPr>
            <a:r>
              <a:rPr lang="en-US" sz="405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Build a machine learning model to predict prices</a:t>
            </a:r>
          </a:p>
          <a:p>
            <a:pPr algn="l" marL="876248" indent="-438124" lvl="1">
              <a:lnSpc>
                <a:spcPts val="4626"/>
              </a:lnSpc>
              <a:buFont typeface="Arial"/>
              <a:buChar char="•"/>
            </a:pPr>
            <a:r>
              <a:rPr lang="en-US" sz="405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Provide insights for pricing strategy</a:t>
            </a:r>
          </a:p>
          <a:p>
            <a:pPr algn="l">
              <a:lnSpc>
                <a:spcPts val="462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679265" y="454689"/>
            <a:ext cx="4929470" cy="118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3"/>
              </a:lnSpc>
            </a:pPr>
            <a:r>
              <a:rPr lang="en-US" sz="8064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Objective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493" y="1434092"/>
            <a:ext cx="17547013" cy="971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7"/>
              </a:lnSpc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The dataset contains detailed information about various smartphones including their hardware specifications and prices.</a:t>
            </a:r>
          </a:p>
          <a:p>
            <a:pPr algn="l">
              <a:lnSpc>
                <a:spcPts val="4827"/>
              </a:lnSpc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Key Features: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Colour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RAM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Memory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Battery Capacity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Rear Camera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Front Camera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Processor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Mobile Height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AI Lens</a:t>
            </a:r>
          </a:p>
          <a:p>
            <a:pPr algn="l" marL="744498" indent="-372249" lvl="1">
              <a:lnSpc>
                <a:spcPts val="4827"/>
              </a:lnSpc>
              <a:buFont typeface="Arial"/>
              <a:buChar char="•"/>
            </a:pPr>
            <a:r>
              <a:rPr lang="en-US" sz="344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Price (Target Variable)</a:t>
            </a:r>
          </a:p>
          <a:p>
            <a:pPr algn="l">
              <a:lnSpc>
                <a:spcPts val="4827"/>
              </a:lnSpc>
            </a:pPr>
          </a:p>
          <a:p>
            <a:pPr algn="l">
              <a:lnSpc>
                <a:spcPts val="482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829019" y="311963"/>
            <a:ext cx="7876871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649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Dataset Overview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5581" y="2144035"/>
            <a:ext cx="13316838" cy="792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sz="501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Before analysis, the dataset was cleaned and prepared.</a:t>
            </a:r>
          </a:p>
          <a:p>
            <a:pPr algn="l">
              <a:lnSpc>
                <a:spcPts val="5661"/>
              </a:lnSpc>
            </a:pPr>
            <a:r>
              <a:rPr lang="en-US" sz="501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Steps performed:</a:t>
            </a:r>
          </a:p>
          <a:p>
            <a:pPr algn="l" marL="1081775" indent="-540888" lvl="1">
              <a:lnSpc>
                <a:spcPts val="5661"/>
              </a:lnSpc>
              <a:buFont typeface="Arial"/>
              <a:buChar char="•"/>
            </a:pPr>
            <a:r>
              <a:rPr lang="en-US" sz="501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Removed unnecessary columns (Unnamed column)</a:t>
            </a:r>
          </a:p>
          <a:p>
            <a:pPr algn="l" marL="1081775" indent="-540888" lvl="1">
              <a:lnSpc>
                <a:spcPts val="5661"/>
              </a:lnSpc>
              <a:buFont typeface="Arial"/>
              <a:buChar char="•"/>
            </a:pPr>
            <a:r>
              <a:rPr lang="en-US" sz="501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Checked for missing values</a:t>
            </a:r>
          </a:p>
          <a:p>
            <a:pPr algn="l" marL="1081775" indent="-540888" lvl="1">
              <a:lnSpc>
                <a:spcPts val="5661"/>
              </a:lnSpc>
              <a:buFont typeface="Arial"/>
              <a:buChar char="•"/>
            </a:pPr>
            <a:r>
              <a:rPr lang="en-US" sz="501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Verified duplicate records</a:t>
            </a:r>
          </a:p>
          <a:p>
            <a:pPr algn="l" marL="1081775" indent="-540888" lvl="1">
              <a:lnSpc>
                <a:spcPts val="5661"/>
              </a:lnSpc>
              <a:buFont typeface="Arial"/>
              <a:buChar char="•"/>
            </a:pPr>
            <a:r>
              <a:rPr lang="en-US" sz="501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Converted camera values from text to numeric</a:t>
            </a:r>
          </a:p>
          <a:p>
            <a:pPr algn="l" marL="1081775" indent="-540888" lvl="1">
              <a:lnSpc>
                <a:spcPts val="5661"/>
              </a:lnSpc>
              <a:buFont typeface="Arial"/>
              <a:buChar char="•"/>
            </a:pPr>
            <a:r>
              <a:rPr lang="en-US" sz="501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Ensured correct data types</a:t>
            </a:r>
          </a:p>
          <a:p>
            <a:pPr algn="l">
              <a:lnSpc>
                <a:spcPts val="566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829019" y="263787"/>
            <a:ext cx="6629962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649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Data Cleaning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0876" y="6038684"/>
            <a:ext cx="7524280" cy="4085254"/>
          </a:xfrm>
          <a:custGeom>
            <a:avLst/>
            <a:gdLst/>
            <a:ahLst/>
            <a:cxnLst/>
            <a:rect r="r" b="b" t="t" l="l"/>
            <a:pathLst>
              <a:path h="4085254" w="7524280">
                <a:moveTo>
                  <a:pt x="0" y="0"/>
                </a:moveTo>
                <a:lnTo>
                  <a:pt x="7524280" y="0"/>
                </a:lnTo>
                <a:lnTo>
                  <a:pt x="7524280" y="4085254"/>
                </a:lnTo>
                <a:lnTo>
                  <a:pt x="0" y="4085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2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74908" y="1686116"/>
            <a:ext cx="6084392" cy="4352568"/>
          </a:xfrm>
          <a:custGeom>
            <a:avLst/>
            <a:gdLst/>
            <a:ahLst/>
            <a:cxnLst/>
            <a:rect r="r" b="b" t="t" l="l"/>
            <a:pathLst>
              <a:path h="4352568" w="6084392">
                <a:moveTo>
                  <a:pt x="0" y="0"/>
                </a:moveTo>
                <a:lnTo>
                  <a:pt x="6084392" y="0"/>
                </a:lnTo>
                <a:lnTo>
                  <a:pt x="6084392" y="4352568"/>
                </a:lnTo>
                <a:lnTo>
                  <a:pt x="0" y="4352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3" t="-7289" r="0" b="-665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2482" y="1686004"/>
            <a:ext cx="9969686" cy="84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Univariate analysis was performed to understand the distribution of individual numerical features such as price, RAM, memory, battery capacity, and camera specifications.</a:t>
            </a:r>
          </a:p>
          <a:p>
            <a:pPr algn="l">
              <a:lnSpc>
                <a:spcPts val="3723"/>
              </a:lnSpc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This analysis helps identify common configurations and understand how smartphone specifications are distributed in the dataset.</a:t>
            </a:r>
          </a:p>
          <a:p>
            <a:pPr algn="l">
              <a:lnSpc>
                <a:spcPts val="3723"/>
              </a:lnSpc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Add screenshots of these charts: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Prize distribution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Battery distribution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RAM distribution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Memory distribution</a:t>
            </a:r>
          </a:p>
          <a:p>
            <a:pPr algn="l">
              <a:lnSpc>
                <a:spcPts val="3723"/>
              </a:lnSpc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Key observations: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Most smartphones fall in the ₹7,000 – ₹20,000 price range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4GB, 6GB, and 8GB RAM configurations are most common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Storage options 64GB and 128GB dominate the market</a:t>
            </a:r>
          </a:p>
          <a:p>
            <a:pPr algn="l" marL="574148" indent="-287074" lvl="1">
              <a:lnSpc>
                <a:spcPts val="3723"/>
              </a:lnSpc>
              <a:buFont typeface="Arial"/>
              <a:buChar char="•"/>
            </a:pPr>
            <a:r>
              <a:rPr lang="en-US" sz="2659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Most devices have battery capacities around 5000 mAh</a:t>
            </a:r>
          </a:p>
          <a:p>
            <a:pPr algn="l">
              <a:lnSpc>
                <a:spcPts val="3723"/>
              </a:lnSpc>
            </a:pPr>
          </a:p>
          <a:p>
            <a:pPr algn="l">
              <a:lnSpc>
                <a:spcPts val="372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409447" y="377143"/>
            <a:ext cx="7469106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64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Univariate Analysis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18817" y="2431671"/>
            <a:ext cx="8380460" cy="5987449"/>
          </a:xfrm>
          <a:custGeom>
            <a:avLst/>
            <a:gdLst/>
            <a:ahLst/>
            <a:cxnLst/>
            <a:rect r="r" b="b" t="t" l="l"/>
            <a:pathLst>
              <a:path h="5987449" w="8380460">
                <a:moveTo>
                  <a:pt x="0" y="0"/>
                </a:moveTo>
                <a:lnTo>
                  <a:pt x="8380460" y="0"/>
                </a:lnTo>
                <a:lnTo>
                  <a:pt x="8380460" y="5987450"/>
                </a:lnTo>
                <a:lnTo>
                  <a:pt x="0" y="598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487" y="1716355"/>
            <a:ext cx="8118694" cy="318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Bivariate analysis was performed to examine the relationship between smartphone features and price.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This helps identify which hardware features influence smartphone pricing.</a:t>
            </a:r>
          </a:p>
          <a:p>
            <a:pPr algn="l">
              <a:lnSpc>
                <a:spcPts val="424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35383" y="4915992"/>
            <a:ext cx="8408617" cy="468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347" i="true">
                <a:solidFill>
                  <a:srgbClr val="294733"/>
                </a:solidFill>
                <a:latin typeface="Inter Italics"/>
                <a:ea typeface="Inter Italics"/>
                <a:cs typeface="Inter Italics"/>
                <a:sym typeface="Inter Italics"/>
              </a:rPr>
              <a:t>Major observations:</a:t>
            </a:r>
          </a:p>
          <a:p>
            <a:pPr algn="l" marL="722820" indent="-361410" lvl="1">
              <a:lnSpc>
                <a:spcPts val="3783"/>
              </a:lnSpc>
              <a:buFont typeface="Arial"/>
              <a:buChar char="•"/>
            </a:pPr>
            <a:r>
              <a:rPr lang="en-US" sz="3347" i="true">
                <a:solidFill>
                  <a:srgbClr val="294733"/>
                </a:solidFill>
                <a:latin typeface="Inter Italics"/>
                <a:ea typeface="Inter Italics"/>
                <a:cs typeface="Inter Italics"/>
                <a:sym typeface="Inter Italics"/>
              </a:rPr>
              <a:t>Smartphone price increases with higher RAM configurations</a:t>
            </a:r>
          </a:p>
          <a:p>
            <a:pPr algn="l" marL="722820" indent="-361410" lvl="1">
              <a:lnSpc>
                <a:spcPts val="3783"/>
              </a:lnSpc>
              <a:buFont typeface="Arial"/>
              <a:buChar char="•"/>
            </a:pPr>
            <a:r>
              <a:rPr lang="en-US" sz="3347" i="true">
                <a:solidFill>
                  <a:srgbClr val="294733"/>
                </a:solidFill>
                <a:latin typeface="Inter Italics"/>
                <a:ea typeface="Inter Italics"/>
                <a:cs typeface="Inter Italics"/>
                <a:sym typeface="Inter Italics"/>
              </a:rPr>
              <a:t>Devices with larger storage capacities tend to be more expensive</a:t>
            </a:r>
          </a:p>
          <a:p>
            <a:pPr algn="l" marL="722820" indent="-361410" lvl="1">
              <a:lnSpc>
                <a:spcPts val="3783"/>
              </a:lnSpc>
              <a:buFont typeface="Arial"/>
              <a:buChar char="•"/>
            </a:pPr>
            <a:r>
              <a:rPr lang="en-US" sz="3347" i="true">
                <a:solidFill>
                  <a:srgbClr val="294733"/>
                </a:solidFill>
                <a:latin typeface="Inter Italics"/>
                <a:ea typeface="Inter Italics"/>
                <a:cs typeface="Inter Italics"/>
                <a:sym typeface="Inter Italics"/>
              </a:rPr>
              <a:t>Processor type significantly impacts smartphone pricing</a:t>
            </a:r>
          </a:p>
          <a:p>
            <a:pPr algn="l" marL="722820" indent="-361410" lvl="1">
              <a:lnSpc>
                <a:spcPts val="3783"/>
              </a:lnSpc>
              <a:buFont typeface="Arial"/>
              <a:buChar char="•"/>
            </a:pPr>
            <a:r>
              <a:rPr lang="en-US" sz="3347" i="true">
                <a:solidFill>
                  <a:srgbClr val="294733"/>
                </a:solidFill>
                <a:latin typeface="Inter Italics"/>
                <a:ea typeface="Inter Italics"/>
                <a:cs typeface="Inter Italics"/>
                <a:sym typeface="Inter Italics"/>
              </a:rPr>
              <a:t>Battery capacity shows weaker influence on price</a:t>
            </a:r>
          </a:p>
          <a:p>
            <a:pPr algn="l">
              <a:lnSpc>
                <a:spcPts val="310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796427" y="74308"/>
            <a:ext cx="8115300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64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Bivariate Analysis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07762" y="3164609"/>
            <a:ext cx="9842234" cy="6093691"/>
          </a:xfrm>
          <a:custGeom>
            <a:avLst/>
            <a:gdLst/>
            <a:ahLst/>
            <a:cxnLst/>
            <a:rect r="r" b="b" t="t" l="l"/>
            <a:pathLst>
              <a:path h="6093691" w="9842234">
                <a:moveTo>
                  <a:pt x="0" y="0"/>
                </a:moveTo>
                <a:lnTo>
                  <a:pt x="9842235" y="0"/>
                </a:lnTo>
                <a:lnTo>
                  <a:pt x="9842235" y="6093691"/>
                </a:lnTo>
                <a:lnTo>
                  <a:pt x="0" y="6093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22337" y="565792"/>
            <a:ext cx="9643325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649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Multivariate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5856" y="3256555"/>
            <a:ext cx="7701906" cy="633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4405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Multivariate analysis helps understand relationships among multiple features simultaneously.</a:t>
            </a:r>
          </a:p>
          <a:p>
            <a:pPr algn="l">
              <a:lnSpc>
                <a:spcPts val="4978"/>
              </a:lnSpc>
            </a:pPr>
            <a:r>
              <a:rPr lang="en-US" sz="4405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 correlation heatmap was used to identify the strength of relationships between different smartphone features and price.</a:t>
            </a:r>
          </a:p>
          <a:p>
            <a:pPr algn="l">
              <a:lnSpc>
                <a:spcPts val="4978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71597" y="3652422"/>
            <a:ext cx="8987703" cy="54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39"/>
              </a:lnSpc>
            </a:pPr>
            <a:r>
              <a:rPr lang="en-US" sz="3171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\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9553" y="565792"/>
            <a:ext cx="15704088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08"/>
              </a:lnSpc>
            </a:pPr>
            <a:r>
              <a:rPr lang="en-US" sz="649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Key Drivers of Mobile Phone Price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9797" y="3652422"/>
            <a:ext cx="13248406" cy="437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High Impact Features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RAM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Memory (Storage)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Processor Type</a:t>
            </a:r>
          </a:p>
          <a:p>
            <a:pPr algn="l">
              <a:lnSpc>
                <a:spcPts val="4987"/>
              </a:lnSpc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These features show strong relationships with smartphone prices and are major indicators of device performance.</a:t>
            </a:r>
          </a:p>
          <a:p>
            <a:pPr algn="l">
              <a:lnSpc>
                <a:spcPts val="4987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7295" y="1971285"/>
            <a:ext cx="16613410" cy="75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Based on correlation and feature analysis, the most influential factors affecting smartphone price are:</a:t>
            </a:r>
          </a:p>
          <a:p>
            <a:pPr algn="l">
              <a:lnSpc>
                <a:spcPts val="4987"/>
              </a:lnSpc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High Impact Features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RAM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Memory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Processor Type</a:t>
            </a:r>
          </a:p>
          <a:p>
            <a:pPr algn="l">
              <a:lnSpc>
                <a:spcPts val="4987"/>
              </a:lnSpc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Moderate Impact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Camera specifications</a:t>
            </a:r>
          </a:p>
          <a:p>
            <a:pPr algn="l">
              <a:lnSpc>
                <a:spcPts val="4987"/>
              </a:lnSpc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Low Impact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Mobile height</a:t>
            </a:r>
          </a:p>
          <a:p>
            <a:pPr algn="l" marL="769128" indent="-384564" lvl="1">
              <a:lnSpc>
                <a:spcPts val="4987"/>
              </a:lnSpc>
              <a:buFont typeface="Arial"/>
              <a:buChar char="•"/>
            </a:pPr>
            <a:r>
              <a:rPr lang="en-US" sz="3562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AI lens</a:t>
            </a:r>
          </a:p>
          <a:p>
            <a:pPr algn="l">
              <a:lnSpc>
                <a:spcPts val="498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73371" y="565792"/>
            <a:ext cx="12341258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64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Feature Importance Insights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4356" y="3251053"/>
            <a:ext cx="16899287" cy="600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3415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Key findings:</a:t>
            </a:r>
          </a:p>
          <a:p>
            <a:pPr algn="l" marL="737309" indent="-368655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Performance-related features such as RAM and storage strongly influence price</a:t>
            </a:r>
          </a:p>
          <a:p>
            <a:pPr algn="l" marL="737309" indent="-368655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Processor type plays an important role in defining smartphone market segments</a:t>
            </a:r>
          </a:p>
          <a:p>
            <a:pPr algn="l" marL="737309" indent="-368655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Camera features contribute to price but are not the primary driver</a:t>
            </a:r>
          </a:p>
          <a:p>
            <a:pPr algn="l">
              <a:lnSpc>
                <a:spcPts val="4781"/>
              </a:lnSpc>
            </a:pPr>
            <a:r>
              <a:rPr lang="en-US" sz="3415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Recommendation:</a:t>
            </a:r>
          </a:p>
          <a:p>
            <a:pPr algn="l">
              <a:lnSpc>
                <a:spcPts val="4781"/>
              </a:lnSpc>
            </a:pPr>
            <a:r>
              <a:rPr lang="en-US" sz="3415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Smartphone manufacturers should focus on improving performance-oriented features such as RAM, storage, and processors to justify higher pricing strategies.</a:t>
            </a:r>
          </a:p>
          <a:p>
            <a:pPr algn="l">
              <a:lnSpc>
                <a:spcPts val="478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94356" y="565792"/>
            <a:ext cx="16899287" cy="9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64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 &amp; Business Recommendations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06787" y="3501420"/>
            <a:ext cx="9874426" cy="29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0"/>
              </a:lnSpc>
            </a:pPr>
            <a:r>
              <a:rPr lang="en-US" sz="22388">
                <a:solidFill>
                  <a:srgbClr val="294733"/>
                </a:solidFill>
                <a:latin typeface="Inter"/>
                <a:ea typeface="Inter"/>
                <a:cs typeface="Inter"/>
                <a:sym typeface="Inter"/>
              </a:rPr>
              <a:t>Thanks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767197" y="8614495"/>
            <a:ext cx="3492103" cy="64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sz="4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Ankit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DAHDi59ec9s</dc:identifier>
  <dcterms:modified xsi:type="dcterms:W3CDTF">2011-08-01T06:04:30Z</dcterms:modified>
  <cp:revision>1</cp:revision>
  <dc:title>Feature Extraction and Price Prediction for Mobile Phones</dc:title>
</cp:coreProperties>
</file>